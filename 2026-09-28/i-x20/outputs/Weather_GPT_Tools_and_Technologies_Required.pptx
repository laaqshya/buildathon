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d08ede8216740ce" /><Relationship Type="http://schemas.openxmlformats.org/officeDocument/2006/relationships/extended-properties" Target="/docProps/app.xml" Id="R2bf64aebc6ab44e7" /><Relationship Type="http://schemas.openxmlformats.org/officeDocument/2006/relationships/officeDocument" Target="/ppt/presentation.xml" Id="Rae774cb98c20495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3ef0696d2f04108"/>
  </p:sldMasterIdLst>
  <p:notesMasterIdLst>
    <p:notesMasterId xmlns:r="http://schemas.openxmlformats.org/officeDocument/2006/relationships" r:id="Rf0518881b3e34835"/>
  </p:notesMasterIdLst>
  <p:sldIdLst>
    <p:sldId xmlns:r="http://schemas.openxmlformats.org/officeDocument/2006/relationships" id="256" r:id="Rc2fbdba638884c0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25ef5a8b60a4eeb" /><Relationship Type="http://schemas.openxmlformats.org/officeDocument/2006/relationships/slideMaster" Target="/ppt/slideMasters/slideMaster1.xml" Id="Rc3ef0696d2f04108" /><Relationship Type="http://schemas.openxmlformats.org/officeDocument/2006/relationships/notesMaster" Target="/ppt/notesMasters/notesMaster1.xml" Id="Rf0518881b3e34835" /><Relationship Type="http://schemas.openxmlformats.org/officeDocument/2006/relationships/presProps" Target="/ppt/presProps.xml" Id="R080e1f48f8d946fa" /><Relationship Type="http://schemas.openxmlformats.org/officeDocument/2006/relationships/tableStyles" Target="/ppt/tableStyles.xml" Id="R1be9a39b113b46eb" /><Relationship Type="http://schemas.openxmlformats.org/officeDocument/2006/relationships/slide" Target="/ppt/slides/slide1.xml" Id="Rc2fbdba638884c0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b77ec0634cb49e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1328607ae5d4dad" /><Relationship Type="http://schemas.openxmlformats.org/officeDocument/2006/relationships/notesMaster" Target="/ppt/notesMasters/notesMaster1.xml" Id="R2efd41165f894c5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Proposed implementation stack for Weather GPT. Open-Meteo appears as a reference data provider in the supplied Weather Globe recording. Other technologies are proposed choices and should be updated if the team selects different frameworks or hosting services.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f7c01c63f5475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3b368a96eb84dbd" /><Relationship Type="http://schemas.openxmlformats.org/officeDocument/2006/relationships/slideLayout" Target="/ppt/slideLayouts/slideLayout1.xml" Id="R1836b7a0d3cd428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836b7a0d3cd428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b388402f4a451a" /><Relationship Type="http://schemas.openxmlformats.org/officeDocument/2006/relationships/image" Target="/ppt/media/image.png" Id="R800437e9f5024c2d" /><Relationship Type="http://schemas.openxmlformats.org/officeDocument/2006/relationships/image" Target="/ppt/media/image.svg" Id="R4aeed924ad5f4a82" /><Relationship Type="http://schemas.openxmlformats.org/officeDocument/2006/relationships/image" Target="/ppt/media/image2.png" Id="R5a76072c3f1847c5" /><Relationship Type="http://schemas.openxmlformats.org/officeDocument/2006/relationships/image" Target="/ppt/media/image2.svg" Id="Rd3878c8755744645" /><Relationship Type="http://schemas.openxmlformats.org/officeDocument/2006/relationships/image" Target="/ppt/media/image3.png" Id="R28c90429488d4e17" /><Relationship Type="http://schemas.openxmlformats.org/officeDocument/2006/relationships/image" Target="/ppt/media/image3.svg" Id="R8c32ca80f9f749df" /><Relationship Type="http://schemas.openxmlformats.org/officeDocument/2006/relationships/image" Target="/ppt/media/image4.png" Id="R26c41097ddad4d4a" /><Relationship Type="http://schemas.openxmlformats.org/officeDocument/2006/relationships/image" Target="/ppt/media/image4.svg" Id="Rb329e415524b41ba" /><Relationship Type="http://schemas.openxmlformats.org/officeDocument/2006/relationships/image" Target="/ppt/media/image5.png" Id="R74d365b5ddf541ac" /><Relationship Type="http://schemas.openxmlformats.org/officeDocument/2006/relationships/image" Target="/ppt/media/image5.svg" Id="Ra5936eddd3d7489b" /><Relationship Type="http://schemas.openxmlformats.org/officeDocument/2006/relationships/image" Target="/ppt/media/image6.png" Id="R4ea7677d3c3c4345" /><Relationship Type="http://schemas.openxmlformats.org/officeDocument/2006/relationships/image" Target="/ppt/media/image6.svg" Id="R3e34bc43297f4e41" /><Relationship Type="http://schemas.openxmlformats.org/officeDocument/2006/relationships/image" Target="/ppt/media/image7.png" Id="Rfea740de5156409d" /><Relationship Type="http://schemas.openxmlformats.org/officeDocument/2006/relationships/image" Target="/ppt/media/image7.svg" Id="R45a90d50e90740c2" /><Relationship Type="http://schemas.openxmlformats.org/officeDocument/2006/relationships/image" Target="/ppt/media/image8.png" Id="Ra68085f451d14bc0" /><Relationship Type="http://schemas.openxmlformats.org/officeDocument/2006/relationships/image" Target="/ppt/media/image8.svg" Id="R14c4011926ea4a05" /><Relationship Type="http://schemas.openxmlformats.org/officeDocument/2006/relationships/notesSlide" Target="/ppt/notesSlides/notesSlide1.xml" Id="R1eb69773e9c144c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0A11DA3-39D1-4AFF-B0E1-6CD9EBAFD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14300"/>
            <a:ext cx="504825" cy="504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F79C6"/>
          </a:solidFill>
          <a:ln xmlns:a="http://schemas.openxmlformats.org/drawingml/2006/main" w="0">
            <a:noFill/>
          </a:ln>
        </p:spPr>
      </p:sp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0437e9f5024c2d">
            <a:extLst>
              <a:ext uri="{96DAC541-7B7A-43D3-8B79-37D633B846F1}">
                <asvg:svgBlip xmlns:asvg="http://schemas.microsoft.com/office/drawing/2016/SVG/main" r:embed="R4aeed924ad5f4a8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38125" y="238125"/>
            <a:ext cx="257175" cy="257175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FF0854-40D6-4D06-B608-63F9BC9AE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3350"/>
            <a:ext cx="762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Tools and Technologies Required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006C27-394A-4231-9701-81FBFC834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239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1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1BDEC2-070D-4C5E-A2CE-188CF50EB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3820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666A70"/>
                </a:solidFill>
                <a:latin typeface="Arial"/>
                <a:ea typeface="Arial"/>
                <a:cs typeface="Arial"/>
              </a:defRPr>
            </a:pPr>
            <a:r>
              <a:rPr sz="1088" b="0">
                <a:solidFill>
                  <a:srgbClr val="666A70"/>
                </a:solidFill>
                <a:latin typeface="Arial"/>
                <a:ea typeface="Arial"/>
                <a:cs typeface="Arial"/>
              </a:rPr>
              <a:t>Proposed implementation stack for the Weather GPT prototype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B034C7-91DE-461E-9803-A26FF8F97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4FB1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EC2104-62F5-4978-85E3-C4531FF4A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1876425"/>
            <a:ext cx="190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EC0AF3-321C-4AA0-BE79-A26702C9C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1876425"/>
            <a:ext cx="190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1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B3FFA9-97CB-4BAB-BCD5-F724B2F32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876425"/>
            <a:ext cx="3143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1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468346-B7D4-4725-9E2D-4B052F146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1876425"/>
            <a:ext cx="3143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8E4169-D66B-46B0-86FE-27DCEB32F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448050"/>
            <a:ext cx="3143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1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11C36F-A30D-403E-A37C-8E6081FD0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3448050"/>
            <a:ext cx="3143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1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9654F3-0134-4CB3-A32D-448270D80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019675"/>
            <a:ext cx="3143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1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76BDD2-4E16-4D5C-9357-27773BBC1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5019675"/>
            <a:ext cx="3143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F26D17-67C1-4530-92C0-F7FD72065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3533775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10FAE3-7795-4451-8991-E481D2B4F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533775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1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CEBC5E-C1DA-4034-87C5-52F450AC8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257300"/>
            <a:ext cx="3762375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7F7F8"/>
          </a:solidFill>
          <a:ln xmlns:a="http://schemas.openxmlformats.org/drawingml/2006/main" w="9525">
            <a:solidFill>
              <a:srgbClr val="D9DDE1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436C61-A260-4A2F-B280-CAAC4C4E7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257300"/>
            <a:ext cx="571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A96"/>
          </a:solidFill>
          <a:ln xmlns:a="http://schemas.openxmlformats.org/drawingml/2006/main" w="0">
            <a:noFill/>
          </a:ln>
        </p:spPr>
      </p:sp>
      <p:pic>
        <p:nvPicPr>
          <p:cNvPr id="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76072c3f1847c5">
            <a:extLst>
              <a:ext uri="{96DAC541-7B7A-43D3-8B79-37D633B846F1}">
                <asvg:svgBlip xmlns:asvg="http://schemas.microsoft.com/office/drawing/2016/SVG/main" r:embed="Rd3878c875574464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28675" y="1438275"/>
            <a:ext cx="295275" cy="295275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B6E323-089A-4C99-9F53-117004981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1419225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376A96"/>
                </a:solidFill>
                <a:latin typeface="Arial"/>
                <a:ea typeface="Arial"/>
                <a:cs typeface="Arial"/>
              </a:defRPr>
            </a:pPr>
            <a:r>
              <a:rPr sz="1238" b="1">
                <a:solidFill>
                  <a:srgbClr val="376A96"/>
                </a:solidFill>
                <a:latin typeface="Arial"/>
                <a:ea typeface="Arial"/>
                <a:cs typeface="Arial"/>
              </a:rPr>
              <a:t>FRONTEND INTERFACE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ABA9BC-BEBF-447D-A766-C53215EE9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762125"/>
            <a:ext cx="323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666A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666A70"/>
                </a:solidFill>
                <a:latin typeface="Arial"/>
                <a:ea typeface="Arial"/>
                <a:cs typeface="Arial"/>
              </a:rPr>
              <a:t>React and TypeScript</a:t>
            </a:r>
          </a:p>
          <a:p xmlns:a="http://schemas.openxmlformats.org/drawingml/2006/main">
            <a:pPr algn="l">
              <a:defRPr sz="990" b="0">
                <a:solidFill>
                  <a:srgbClr val="666A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666A70"/>
                </a:solidFill>
                <a:latin typeface="Arial"/>
                <a:ea typeface="Arial"/>
                <a:cs typeface="Arial"/>
              </a:rPr>
              <a:t>HTML5, CSS3 and responsive design</a:t>
            </a:r>
          </a:p>
          <a:p xmlns:a="http://schemas.openxmlformats.org/drawingml/2006/main">
            <a:pPr algn="l">
              <a:defRPr sz="990" b="0">
                <a:solidFill>
                  <a:srgbClr val="666A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666A70"/>
                </a:solidFill>
                <a:latin typeface="Arial"/>
                <a:ea typeface="Arial"/>
                <a:cs typeface="Arial"/>
              </a:rPr>
              <a:t>Accessible chat and forecast interface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680294-2169-46A5-A37B-87999A254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28925"/>
            <a:ext cx="3762375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7F7F8"/>
          </a:solidFill>
          <a:ln xmlns:a="http://schemas.openxmlformats.org/drawingml/2006/main" w="9525">
            <a:solidFill>
              <a:srgbClr val="D9DDE1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7B57E2-F292-49B0-BCBF-B4BDDA50A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28925"/>
            <a:ext cx="571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8B88"/>
          </a:solidFill>
          <a:ln xmlns:a="http://schemas.openxmlformats.org/drawingml/2006/main" w="0">
            <a:noFill/>
          </a:ln>
        </p:spPr>
      </p:sp>
      <p:pic>
        <p:nvPicPr>
          <p:cNvPr id="7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c90429488d4e17">
            <a:extLst>
              <a:ext uri="{96DAC541-7B7A-43D3-8B79-37D633B846F1}">
                <asvg:svgBlip xmlns:asvg="http://schemas.microsoft.com/office/drawing/2016/SVG/main" r:embed="R8c32ca80f9f749d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28675" y="3009900"/>
            <a:ext cx="295275" cy="295275"/>
          </a:xfrm>
          <a:prstGeom xmlns:a="http://schemas.openxmlformats.org/drawingml/2006/main" prst="rect">
            <a:avLst/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6ECFE2-0271-407C-9B47-E8C3600B0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29908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258B88"/>
                </a:solidFill>
                <a:latin typeface="Arial"/>
                <a:ea typeface="Arial"/>
                <a:cs typeface="Arial"/>
              </a:defRPr>
            </a:pPr>
            <a:r>
              <a:rPr sz="1238" b="1">
                <a:solidFill>
                  <a:srgbClr val="258B88"/>
                </a:solidFill>
                <a:latin typeface="Arial"/>
                <a:ea typeface="Arial"/>
                <a:cs typeface="Arial"/>
              </a:rPr>
              <a:t>MAPS AND GEOSPATIAL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3304E8E-179E-4FD2-9BA8-F1F141095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333750"/>
            <a:ext cx="323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666A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666A70"/>
                </a:solidFill>
                <a:latin typeface="Arial"/>
                <a:ea typeface="Arial"/>
                <a:cs typeface="Arial"/>
              </a:rPr>
              <a:t>CesiumJS interactive 3D globe</a:t>
            </a:r>
          </a:p>
          <a:p xmlns:a="http://schemas.openxmlformats.org/drawingml/2006/main">
            <a:pPr algn="l">
              <a:defRPr sz="990" b="0">
                <a:solidFill>
                  <a:srgbClr val="666A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666A70"/>
                </a:solidFill>
                <a:latin typeface="Arial"/>
                <a:ea typeface="Arial"/>
                <a:cs typeface="Arial"/>
              </a:rPr>
              <a:t>Map tiles and weather overlays</a:t>
            </a:r>
          </a:p>
          <a:p xmlns:a="http://schemas.openxmlformats.org/drawingml/2006/main">
            <a:pPr algn="l">
              <a:defRPr sz="990" b="0">
                <a:solidFill>
                  <a:srgbClr val="666A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666A70"/>
                </a:solidFill>
                <a:latin typeface="Arial"/>
                <a:ea typeface="Arial"/>
                <a:cs typeface="Arial"/>
              </a:rPr>
              <a:t>Geocoding and location search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09D294F-F4E3-4DB3-89B1-AEEB24E37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00550"/>
            <a:ext cx="3762375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7F7F8"/>
          </a:solidFill>
          <a:ln xmlns:a="http://schemas.openxmlformats.org/drawingml/2006/main" w="9525">
            <a:solidFill>
              <a:srgbClr val="D9DDE1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DE37DB1-FA23-49BB-9FF7-15C092F0C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00550"/>
            <a:ext cx="571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4FB1"/>
          </a:solidFill>
          <a:ln xmlns:a="http://schemas.openxmlformats.org/drawingml/2006/main" w="0">
            <a:noFill/>
          </a:ln>
        </p:spPr>
      </p:sp>
      <p:pic>
        <p:nvPicPr>
          <p:cNvPr id="8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c41097ddad4d4a">
            <a:extLst>
              <a:ext uri="{96DAC541-7B7A-43D3-8B79-37D633B846F1}">
                <asvg:svgBlip xmlns:asvg="http://schemas.microsoft.com/office/drawing/2016/SVG/main" r:embed="Rb329e415524b41b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28675" y="4581525"/>
            <a:ext cx="295275" cy="295275"/>
          </a:xfrm>
          <a:prstGeom xmlns:a="http://schemas.openxmlformats.org/drawingml/2006/main" prst="rect">
            <a:avLst/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E6B747B-0274-4695-B0AF-95AD66958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562475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6B4FB1"/>
                </a:solidFill>
                <a:latin typeface="Arial"/>
                <a:ea typeface="Arial"/>
                <a:cs typeface="Arial"/>
              </a:defRPr>
            </a:pPr>
            <a:r>
              <a:rPr sz="1238" b="1">
                <a:solidFill>
                  <a:srgbClr val="6B4FB1"/>
                </a:solidFill>
                <a:latin typeface="Arial"/>
                <a:ea typeface="Arial"/>
                <a:cs typeface="Arial"/>
              </a:rPr>
              <a:t>SPEECH AND LANGUAGE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03C8563-1529-421C-8EF6-4DAE24F15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905375"/>
            <a:ext cx="323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666A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666A70"/>
                </a:solidFill>
                <a:latin typeface="Arial"/>
                <a:ea typeface="Arial"/>
                <a:cs typeface="Arial"/>
              </a:rPr>
              <a:t>Speech-to-text and text-to-speech</a:t>
            </a:r>
          </a:p>
          <a:p xmlns:a="http://schemas.openxmlformats.org/drawingml/2006/main">
            <a:pPr algn="l">
              <a:defRPr sz="990" b="0">
                <a:solidFill>
                  <a:srgbClr val="666A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666A70"/>
                </a:solidFill>
                <a:latin typeface="Arial"/>
                <a:ea typeface="Arial"/>
                <a:cs typeface="Arial"/>
              </a:rPr>
              <a:t>Voice-command processing</a:t>
            </a:r>
          </a:p>
          <a:p xmlns:a="http://schemas.openxmlformats.org/drawingml/2006/main">
            <a:pPr algn="l">
              <a:defRPr sz="990" b="0">
                <a:solidFill>
                  <a:srgbClr val="666A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666A70"/>
                </a:solidFill>
                <a:latin typeface="Arial"/>
                <a:ea typeface="Arial"/>
                <a:cs typeface="Arial"/>
              </a:rPr>
              <a:t>Language detection and translation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0D56B15-5F84-4556-A7E5-10B9E3316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257300"/>
            <a:ext cx="3762375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7F7F8"/>
          </a:solidFill>
          <a:ln xmlns:a="http://schemas.openxmlformats.org/drawingml/2006/main" w="9525">
            <a:solidFill>
              <a:srgbClr val="D9DDE1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91B2B50-BB3D-42F8-9108-C353F379B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257300"/>
            <a:ext cx="571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4FB1"/>
          </a:solidFill>
          <a:ln xmlns:a="http://schemas.openxmlformats.org/drawingml/2006/main" w="0">
            <a:noFill/>
          </a:ln>
        </p:spPr>
      </p:sp>
      <p:pic>
        <p:nvPicPr>
          <p:cNvPr id="8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d365b5ddf541ac">
            <a:extLst>
              <a:ext uri="{96DAC541-7B7A-43D3-8B79-37D633B846F1}">
                <asvg:svgBlip xmlns:asvg="http://schemas.microsoft.com/office/drawing/2016/SVG/main" r:embed="Ra5936eddd3d7489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020050" y="1438275"/>
            <a:ext cx="295275" cy="295275"/>
          </a:xfrm>
          <a:prstGeom xmlns:a="http://schemas.openxmlformats.org/drawingml/2006/main" prst="rect">
            <a:avLst/>
          </a:prstGeom>
        </p:spPr>
      </p:pic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31DC259-5D65-438D-B846-86C6A4290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419225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6B4FB1"/>
                </a:solidFill>
                <a:latin typeface="Arial"/>
                <a:ea typeface="Arial"/>
                <a:cs typeface="Arial"/>
              </a:defRPr>
            </a:pPr>
            <a:r>
              <a:rPr sz="1238" b="1">
                <a:solidFill>
                  <a:srgbClr val="6B4FB1"/>
                </a:solidFill>
                <a:latin typeface="Arial"/>
                <a:ea typeface="Arial"/>
                <a:cs typeface="Arial"/>
              </a:rPr>
              <a:t>AGENTIC AI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3A51AC3-9C86-4378-B373-3E8DDF5B0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62125"/>
            <a:ext cx="323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666A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666A70"/>
                </a:solidFill>
                <a:latin typeface="Arial"/>
                <a:ea typeface="Arial"/>
                <a:cs typeface="Arial"/>
              </a:rPr>
              <a:t>Tool-calling language model</a:t>
            </a:r>
          </a:p>
          <a:p xmlns:a="http://schemas.openxmlformats.org/drawingml/2006/main">
            <a:pPr algn="l">
              <a:defRPr sz="990" b="0">
                <a:solidFill>
                  <a:srgbClr val="666A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666A70"/>
                </a:solidFill>
                <a:latin typeface="Arial"/>
                <a:ea typeface="Arial"/>
                <a:cs typeface="Arial"/>
              </a:rPr>
              <a:t>Agent planning and orchestration</a:t>
            </a:r>
          </a:p>
          <a:p xmlns:a="http://schemas.openxmlformats.org/drawingml/2006/main">
            <a:pPr algn="l">
              <a:defRPr sz="990" b="0">
                <a:solidFill>
                  <a:srgbClr val="666A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666A70"/>
                </a:solidFill>
                <a:latin typeface="Arial"/>
                <a:ea typeface="Arial"/>
                <a:cs typeface="Arial"/>
              </a:rPr>
              <a:t>Prompt guardrails and data verification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7E4E928-9852-4FB6-B95D-F5C5098B9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28925"/>
            <a:ext cx="3762375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7F7F8"/>
          </a:solidFill>
          <a:ln xmlns:a="http://schemas.openxmlformats.org/drawingml/2006/main" w="9525">
            <a:solidFill>
              <a:srgbClr val="D9DDE1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7FA2D7D-72B1-46BF-8067-4358BD648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28925"/>
            <a:ext cx="571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C57"/>
          </a:solidFill>
          <a:ln xmlns:a="http://schemas.openxmlformats.org/drawingml/2006/main" w="0">
            <a:noFill/>
          </a:ln>
        </p:spPr>
      </p:sp>
      <p:pic>
        <p:nvPicPr>
          <p:cNvPr id="9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a7677d3c3c4345">
            <a:extLst>
              <a:ext uri="{96DAC541-7B7A-43D3-8B79-37D633B846F1}">
                <asvg:svgBlip xmlns:asvg="http://schemas.microsoft.com/office/drawing/2016/SVG/main" r:embed="R3e34bc43297f4e4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020050" y="3009900"/>
            <a:ext cx="295275" cy="295275"/>
          </a:xfrm>
          <a:prstGeom xmlns:a="http://schemas.openxmlformats.org/drawingml/2006/main" prst="rect">
            <a:avLst/>
          </a:prstGeom>
        </p:spPr>
      </p:pic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12027C2-D5CE-422A-B1BE-E581B8541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9908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C95C57"/>
                </a:solidFill>
                <a:latin typeface="Arial"/>
                <a:ea typeface="Arial"/>
                <a:cs typeface="Arial"/>
              </a:defRPr>
            </a:pPr>
            <a:r>
              <a:rPr sz="1238" b="1">
                <a:solidFill>
                  <a:srgbClr val="C95C57"/>
                </a:solidFill>
                <a:latin typeface="Arial"/>
                <a:ea typeface="Arial"/>
                <a:cs typeface="Arial"/>
              </a:rPr>
              <a:t>BACKEND AND APIs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E3B8AA8-6FC7-49C4-BA0A-467850B72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333750"/>
            <a:ext cx="323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666A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666A70"/>
                </a:solidFill>
                <a:latin typeface="Arial"/>
                <a:ea typeface="Arial"/>
                <a:cs typeface="Arial"/>
              </a:rPr>
              <a:t>Python and FastAPI</a:t>
            </a:r>
          </a:p>
          <a:p xmlns:a="http://schemas.openxmlformats.org/drawingml/2006/main">
            <a:pPr algn="l">
              <a:defRPr sz="990" b="0">
                <a:solidFill>
                  <a:srgbClr val="666A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666A70"/>
                </a:solidFill>
                <a:latin typeface="Arial"/>
                <a:ea typeface="Arial"/>
                <a:cs typeface="Arial"/>
              </a:rPr>
              <a:t>REST APIs and WebSocket communication</a:t>
            </a:r>
          </a:p>
          <a:p xmlns:a="http://schemas.openxmlformats.org/drawingml/2006/main">
            <a:pPr algn="l">
              <a:defRPr sz="990" b="0">
                <a:solidFill>
                  <a:srgbClr val="666A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666A70"/>
                </a:solidFill>
                <a:latin typeface="Arial"/>
                <a:ea typeface="Arial"/>
                <a:cs typeface="Arial"/>
              </a:rPr>
              <a:t>Pydantic data validation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10E28C3-2857-4C6B-AF96-A13B89412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400550"/>
            <a:ext cx="3762375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7F7F8"/>
          </a:solidFill>
          <a:ln xmlns:a="http://schemas.openxmlformats.org/drawingml/2006/main" w="9525">
            <a:solidFill>
              <a:srgbClr val="D9DDE1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D758068-3426-4803-8E35-75BD4B5E4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400550"/>
            <a:ext cx="571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8B68"/>
          </a:solidFill>
          <a:ln xmlns:a="http://schemas.openxmlformats.org/drawingml/2006/main" w="0">
            <a:noFill/>
          </a:ln>
        </p:spPr>
      </p:sp>
      <p:pic>
        <p:nvPicPr>
          <p:cNvPr id="9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a740de5156409d">
            <a:extLst>
              <a:ext uri="{96DAC541-7B7A-43D3-8B79-37D633B846F1}">
                <asvg:svgBlip xmlns:asvg="http://schemas.microsoft.com/office/drawing/2016/SVG/main" r:embed="R45a90d50e90740c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020050" y="4581525"/>
            <a:ext cx="295275" cy="295275"/>
          </a:xfrm>
          <a:prstGeom xmlns:a="http://schemas.openxmlformats.org/drawingml/2006/main" prst="rect">
            <a:avLst/>
          </a:prstGeom>
        </p:spPr>
      </p:pic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A9B2411-01B8-4B4E-AF5A-DFB5ACA6A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562475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578B68"/>
                </a:solidFill>
                <a:latin typeface="Arial"/>
                <a:ea typeface="Arial"/>
                <a:cs typeface="Arial"/>
              </a:defRPr>
            </a:pPr>
            <a:r>
              <a:rPr sz="1238" b="1">
                <a:solidFill>
                  <a:srgbClr val="578B68"/>
                </a:solidFill>
                <a:latin typeface="Arial"/>
                <a:ea typeface="Arial"/>
                <a:cs typeface="Arial"/>
              </a:rPr>
              <a:t>DATA AND DEPLOYMENT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D8F42FD-E53E-4F0D-9A62-6716111FB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905375"/>
            <a:ext cx="323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666A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666A70"/>
                </a:solidFill>
                <a:latin typeface="Arial"/>
                <a:ea typeface="Arial"/>
                <a:cs typeface="Arial"/>
              </a:rPr>
              <a:t>Open-Meteo and official warning feeds</a:t>
            </a:r>
          </a:p>
          <a:p xmlns:a="http://schemas.openxmlformats.org/drawingml/2006/main">
            <a:pPr algn="l">
              <a:defRPr sz="990" b="0">
                <a:solidFill>
                  <a:srgbClr val="666A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666A70"/>
                </a:solidFill>
                <a:latin typeface="Arial"/>
                <a:ea typeface="Arial"/>
                <a:cs typeface="Arial"/>
              </a:rPr>
              <a:t>PostgreSQL and Redis cache</a:t>
            </a:r>
          </a:p>
          <a:p xmlns:a="http://schemas.openxmlformats.org/drawingml/2006/main">
            <a:pPr algn="l">
              <a:defRPr sz="990" b="0">
                <a:solidFill>
                  <a:srgbClr val="666A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666A70"/>
                </a:solidFill>
                <a:latin typeface="Arial"/>
                <a:ea typeface="Arial"/>
                <a:cs typeface="Arial"/>
              </a:rPr>
              <a:t>Docker, GitHub and cloud monitoring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A548331-5828-498F-A875-2BAE969D3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552700"/>
            <a:ext cx="219075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F79C6"/>
          </a:solidFill>
          <a:ln xmlns:a="http://schemas.openxmlformats.org/drawingml/2006/main" w="19050">
            <a:solidFill>
              <a:srgbClr val="6B4FB1"/>
            </a:solidFill>
          </a:ln>
        </p:spPr>
      </p:sp>
      <p:pic>
        <p:nvPicPr>
          <p:cNvPr id="10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8085f451d14bc0">
            <a:extLst>
              <a:ext uri="{96DAC541-7B7A-43D3-8B79-37D633B846F1}">
                <asvg:svgBlip xmlns:asvg="http://schemas.microsoft.com/office/drawing/2016/SVG/main" r:embed="R14c4011926ea4a0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876925" y="2857500"/>
            <a:ext cx="428625" cy="428625"/>
          </a:xfrm>
          <a:prstGeom xmlns:a="http://schemas.openxmlformats.org/drawingml/2006/main" prst="rect">
            <a:avLst/>
          </a:prstGeom>
        </p:spPr>
      </p:pic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709DFBF-2985-424B-8C9C-74274E7D4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362325"/>
            <a:ext cx="1562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WEATHER GPT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2A91E55-8530-4B28-99C8-0E2C9B5C9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781425"/>
            <a:ext cx="1485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Agentic weather</a:t>
            </a:r>
          </a:p>
          <a:p xmlns:a="http://schemas.openxmlformats.org/drawingml/2006/main">
            <a:pPr algn="ctr"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platform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565F5FA-5E4F-4551-80BA-35BB80FE2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6265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1"/>
          </a:solidFill>
          <a:ln xmlns:a="http://schemas.openxmlformats.org/drawingml/2006/main" w="0">
            <a:noFill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21C0F18-8ED4-49FD-958A-F97C5CAB2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96000"/>
            <a:ext cx="10953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6A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6A70"/>
                </a:solidFill>
                <a:latin typeface="Arial"/>
                <a:ea typeface="Arial"/>
                <a:cs typeface="Arial"/>
              </a:rPr>
              <a:t>The stack combines the interactive weather interface, agent orchestration, verified data sources and voice access.</a:t>
            </a:r>
          </a:p>
        </p:txBody>
      </p:sp>
    </p:spTree>
    <p:extLst>
      <p:ext uri="{BB962C8B-B14F-4D97-AF65-F5344CB8AC3E}">
        <p14:creationId xmlns:p14="http://schemas.microsoft.com/office/powerpoint/2010/main" val="7795747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2026-10-02T10:59:34.9310000Z</dcterms:created>
  <dcterms:modified xsi:type="dcterms:W3CDTF">2026-10-02T10:59:34.9310000Z</dcterms:modified>
</coreProperties>
</file>