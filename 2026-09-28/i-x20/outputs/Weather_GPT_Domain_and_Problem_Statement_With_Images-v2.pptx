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8605350bfc410f" /><Relationship Type="http://schemas.openxmlformats.org/officeDocument/2006/relationships/extended-properties" Target="/docProps/app.xml" Id="R7bfd720ed2444110" /><Relationship Type="http://schemas.openxmlformats.org/officeDocument/2006/relationships/officeDocument" Target="/ppt/presentation.xml" Id="R4e4bf427eb054b71" /></Relationships>
</file>

<file path=ppt/presentation.xml><?xml version="1.0" encoding="utf-8"?>
<p:presentation xmlns:p="http://schemas.openxmlformats.org/presentationml/2006/main">
  <p:sldMasterIdLst>
    <p:sldMasterId xmlns:r="http://schemas.openxmlformats.org/officeDocument/2006/relationships" id="2147483648" r:id="R0bd0b286b3204aac"/>
  </p:sldMasterIdLst>
  <p:notesMasterIdLst>
    <p:notesMasterId xmlns:r="http://schemas.openxmlformats.org/officeDocument/2006/relationships" r:id="R6560555dc093434a"/>
  </p:notesMasterIdLst>
  <p:sldIdLst>
    <p:sldId xmlns:r="http://schemas.openxmlformats.org/officeDocument/2006/relationships" id="256" r:id="Racf36187cfb54d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4f270aefc44b5f" /><Relationship Type="http://schemas.openxmlformats.org/officeDocument/2006/relationships/slideMaster" Target="/ppt/slideMasters/slideMaster1.xml" Id="R0bd0b286b3204aac" /><Relationship Type="http://schemas.openxmlformats.org/officeDocument/2006/relationships/notesMaster" Target="/ppt/notesMasters/notesMaster1.xml" Id="R6560555dc093434a" /><Relationship Type="http://schemas.openxmlformats.org/officeDocument/2006/relationships/presProps" Target="/ppt/presProps.xml" Id="R1be25298d00c46c2" /><Relationship Type="http://schemas.openxmlformats.org/officeDocument/2006/relationships/tableStyles" Target="/ppt/tableStyles.xml" Id="Rb125a615cb174f78" /><Relationship Type="http://schemas.openxmlformats.org/officeDocument/2006/relationships/slide" Target="/ppt/slides/slide1.xml" Id="Racf36187cfb54d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b0c4cbab7f4c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e33960410b4f77" /><Relationship Type="http://schemas.openxmlformats.org/officeDocument/2006/relationships/notesMaster" Target="/ppt/notesMasters/notesMaster1.xml" Id="Rdff28d80a70d4e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a55166a1b640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81a1fc0b5c4227" /><Relationship Type="http://schemas.openxmlformats.org/officeDocument/2006/relationships/slideLayout" Target="/ppt/slideLayouts/slideLayout1.xml" Id="R0ad091920bb441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d091920bb441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4fb05dca85493c" /><Relationship Type="http://schemas.openxmlformats.org/officeDocument/2006/relationships/image" Target="/ppt/media/image.png" Id="Rb49bd76b12e84b4c" /><Relationship Type="http://schemas.openxmlformats.org/officeDocument/2006/relationships/image" Target="/ppt/media/image2.png" Id="Re95eb8c2bdc24307" /><Relationship Type="http://schemas.openxmlformats.org/officeDocument/2006/relationships/notesSlide" Target="/ppt/notesSlides/notesSlide1.xml" Id="Rbd6f106500cf4a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ED1130B5-679A-4198-B78D-DE29B0D8F97B}"/>
              </a:ext>
            </a:extLst>
          </p:cNvPr>
          <p:cNvSpPr>
            <a:spLocks xmlns:a="http://schemas.openxmlformats.org/drawingml/2006/main" noGrp="1"/>
          </p:cNvSpPr>
          <p:nvPr/>
        </p:nvSpPr>
        <p:spPr>
          <a:xfrm xmlns:a="http://schemas.openxmlformats.org/drawingml/2006/main">
            <a:off x="590550" y="2286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92D32"/>
                </a:solidFill>
                <a:latin typeface="Arial"/>
                <a:ea typeface="Arial"/>
                <a:cs typeface="Arial"/>
              </a:defRPr>
            </a:pPr>
            <a:r>
              <a:rPr sz="3000" b="1">
                <a:solidFill>
                  <a:srgbClr val="292D32"/>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B02DBF3E-1873-46C8-9C4D-F16C8A3ABC59}"/>
              </a:ext>
            </a:extLst>
          </p:cNvPr>
          <p:cNvSpPr>
            <a:spLocks xmlns:a="http://schemas.openxmlformats.org/drawingml/2006/main" noGrp="1"/>
          </p:cNvSpPr>
          <p:nvPr/>
        </p:nvSpPr>
        <p:spPr>
          <a:xfrm xmlns:a="http://schemas.openxmlformats.org/drawingml/2006/main">
            <a:off x="590550" y="771525"/>
            <a:ext cx="1104900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750BEF-9833-429E-95A5-7791ED3890A0}"/>
              </a:ext>
            </a:extLst>
          </p:cNvPr>
          <p:cNvSpPr>
            <a:spLocks xmlns:a="http://schemas.openxmlformats.org/drawingml/2006/main" noGrp="1"/>
          </p:cNvSpPr>
          <p:nvPr/>
        </p:nvSpPr>
        <p:spPr>
          <a:xfrm xmlns:a="http://schemas.openxmlformats.org/drawingml/2006/main">
            <a:off x="590550" y="914400"/>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DOMAIN</a:t>
            </a:r>
          </a:p>
        </p:txBody>
      </p:sp>
      <p:sp>
        <p:nvSpPr>
          <p:cNvPr id="4" name="">
            <a:extLst xmlns:a="http://schemas.openxmlformats.org/drawingml/2006/main">
              <a:ext uri="{FF2B5EF4-FFF2-40B4-BE49-F238E27FC236}">
                <a16:creationId xmlns:a16="http://schemas.microsoft.com/office/drawing/2014/main" id="{D3162E27-A988-40CF-980F-0E15F5EF4DDA}"/>
              </a:ext>
            </a:extLst>
          </p:cNvPr>
          <p:cNvSpPr>
            <a:spLocks xmlns:a="http://schemas.openxmlformats.org/drawingml/2006/main" noGrp="1"/>
          </p:cNvSpPr>
          <p:nvPr/>
        </p:nvSpPr>
        <p:spPr>
          <a:xfrm xmlns:a="http://schemas.openxmlformats.org/drawingml/2006/main">
            <a:off x="1381125" y="895350"/>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66A70"/>
                </a:solidFill>
                <a:latin typeface="Arial"/>
                <a:ea typeface="Arial"/>
                <a:cs typeface="Arial"/>
              </a:defRPr>
            </a:pPr>
            <a:r>
              <a:rPr sz="1275" b="1">
                <a:solidFill>
                  <a:srgbClr val="666A70"/>
                </a:solidFill>
                <a:latin typeface="Arial"/>
                <a:ea typeface="Arial"/>
                <a:cs typeface="Arial"/>
              </a:rPr>
              <a:t>Agentic Artificial Intelligence, Conversational AI, Weather Analytics, Geospatial Visualisation, Speech Technology and Hazard-Awareness Systems</a:t>
            </a:r>
          </a:p>
        </p:txBody>
      </p:sp>
      <p:sp>
        <p:nvSpPr>
          <p:cNvPr id="5" name="">
            <a:extLst xmlns:a="http://schemas.openxmlformats.org/drawingml/2006/main">
              <a:ext uri="{FF2B5EF4-FFF2-40B4-BE49-F238E27FC236}">
                <a16:creationId xmlns:a16="http://schemas.microsoft.com/office/drawing/2014/main" id="{90A00DA0-B1C5-420A-B4EF-A3C90B92D380}"/>
              </a:ext>
            </a:extLst>
          </p:cNvPr>
          <p:cNvSpPr>
            <a:spLocks xmlns:a="http://schemas.openxmlformats.org/drawingml/2006/main" noGrp="1"/>
          </p:cNvSpPr>
          <p:nvPr/>
        </p:nvSpPr>
        <p:spPr>
          <a:xfrm xmlns:a="http://schemas.openxmlformats.org/drawingml/2006/main">
            <a:off x="590550" y="13716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7C5F72-FCE1-407E-B8F6-544F74F038DF}"/>
              </a:ext>
            </a:extLst>
          </p:cNvPr>
          <p:cNvSpPr>
            <a:spLocks xmlns:a="http://schemas.openxmlformats.org/drawingml/2006/main" noGrp="1"/>
          </p:cNvSpPr>
          <p:nvPr/>
        </p:nvSpPr>
        <p:spPr>
          <a:xfrm xmlns:a="http://schemas.openxmlformats.org/drawingml/2006/main">
            <a:off x="4371975"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01C034-E3E0-45D6-9899-B297DE5500D3}"/>
              </a:ext>
            </a:extLst>
          </p:cNvPr>
          <p:cNvSpPr>
            <a:spLocks xmlns:a="http://schemas.openxmlformats.org/drawingml/2006/main" noGrp="1"/>
          </p:cNvSpPr>
          <p:nvPr/>
        </p:nvSpPr>
        <p:spPr>
          <a:xfrm xmlns:a="http://schemas.openxmlformats.org/drawingml/2006/main">
            <a:off x="8210550"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8B8A7A-DD0F-4BA2-A5E5-3C7FC0AD85D2}"/>
              </a:ext>
            </a:extLst>
          </p:cNvPr>
          <p:cNvSpPr>
            <a:spLocks xmlns:a="http://schemas.openxmlformats.org/drawingml/2006/main" noGrp="1"/>
          </p:cNvSpPr>
          <p:nvPr/>
        </p:nvSpPr>
        <p:spPr>
          <a:xfrm xmlns:a="http://schemas.openxmlformats.org/drawingml/2006/main">
            <a:off x="590550" y="15621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C57"/>
                </a:solidFill>
                <a:latin typeface="Arial"/>
                <a:ea typeface="Arial"/>
                <a:cs typeface="Arial"/>
              </a:defRPr>
            </a:pPr>
            <a:r>
              <a:rPr sz="1425" b="1">
                <a:solidFill>
                  <a:srgbClr val="C95C57"/>
                </a:solidFill>
                <a:latin typeface="Arial"/>
                <a:ea typeface="Arial"/>
                <a:cs typeface="Arial"/>
              </a:rPr>
              <a:t>PROBLEM STATEMENT</a:t>
            </a:r>
          </a:p>
        </p:txBody>
      </p:sp>
      <p:sp>
        <p:nvSpPr>
          <p:cNvPr id="9" name="">
            <a:extLst xmlns:a="http://schemas.openxmlformats.org/drawingml/2006/main">
              <a:ext uri="{FF2B5EF4-FFF2-40B4-BE49-F238E27FC236}">
                <a16:creationId xmlns:a16="http://schemas.microsoft.com/office/drawing/2014/main" id="{AD2D2885-3915-424A-9E62-EBBE0FA2265F}"/>
              </a:ext>
            </a:extLst>
          </p:cNvPr>
          <p:cNvSpPr>
            <a:spLocks xmlns:a="http://schemas.openxmlformats.org/drawingml/2006/main" noGrp="1"/>
          </p:cNvSpPr>
          <p:nvPr/>
        </p:nvSpPr>
        <p:spPr>
          <a:xfrm xmlns:a="http://schemas.openxmlformats.org/drawingml/2006/main">
            <a:off x="590550" y="1866900"/>
            <a:ext cx="742950" cy="28575"/>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664FDD-D0B5-4337-88AD-EF9CD23F4E0E}"/>
              </a:ext>
            </a:extLst>
          </p:cNvPr>
          <p:cNvSpPr>
            <a:spLocks xmlns:a="http://schemas.openxmlformats.org/drawingml/2006/main" noGrp="1"/>
          </p:cNvSpPr>
          <p:nvPr/>
        </p:nvSpPr>
        <p:spPr>
          <a:xfrm xmlns:a="http://schemas.openxmlformats.org/drawingml/2006/main">
            <a:off x="590550" y="2000250"/>
            <a:ext cx="35528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Weather information is spread across forecast applications, technical dashboards, map services and separate emergency-alert platforms. Users often need to interpret numerical data without receiving a clear explanation of how the conditions affect their location, activity or travel plans. Most applications provide static results and require manual navigation between screens. Weather GPT addresses this gap through an agentic AI assistant that understands user intent, selects trusted weather and alert sources, analyses the retrieved information and presents relevant guidance through text, voice and interactive maps.</a:t>
            </a:r>
          </a:p>
        </p:txBody>
      </p:sp>
      <p:sp>
        <p:nvSpPr>
          <p:cNvPr id="11" name="">
            <a:extLst xmlns:a="http://schemas.openxmlformats.org/drawingml/2006/main">
              <a:ext uri="{FF2B5EF4-FFF2-40B4-BE49-F238E27FC236}">
                <a16:creationId xmlns:a16="http://schemas.microsoft.com/office/drawing/2014/main" id="{BFF39165-EF4F-4095-B13C-E29724EE7FEA}"/>
              </a:ext>
            </a:extLst>
          </p:cNvPr>
          <p:cNvSpPr>
            <a:spLocks xmlns:a="http://schemas.openxmlformats.org/drawingml/2006/main" noGrp="1"/>
          </p:cNvSpPr>
          <p:nvPr/>
        </p:nvSpPr>
        <p:spPr>
          <a:xfrm xmlns:a="http://schemas.openxmlformats.org/drawingml/2006/main">
            <a:off x="4600575" y="1562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58B88"/>
                </a:solidFill>
                <a:latin typeface="Arial"/>
                <a:ea typeface="Arial"/>
                <a:cs typeface="Arial"/>
              </a:defRPr>
            </a:pPr>
            <a:r>
              <a:rPr sz="1425" b="1">
                <a:solidFill>
                  <a:srgbClr val="258B88"/>
                </a:solidFill>
                <a:latin typeface="Arial"/>
                <a:ea typeface="Arial"/>
                <a:cs typeface="Arial"/>
              </a:rPr>
              <a:t>PAIN POINTS</a:t>
            </a:r>
          </a:p>
        </p:txBody>
      </p:sp>
      <p:sp>
        <p:nvSpPr>
          <p:cNvPr id="12" name="">
            <a:extLst xmlns:a="http://schemas.openxmlformats.org/drawingml/2006/main">
              <a:ext uri="{FF2B5EF4-FFF2-40B4-BE49-F238E27FC236}">
                <a16:creationId xmlns:a16="http://schemas.microsoft.com/office/drawing/2014/main" id="{39E54A08-5BE9-49DF-BF00-ED43245FBD8F}"/>
              </a:ext>
            </a:extLst>
          </p:cNvPr>
          <p:cNvSpPr>
            <a:spLocks xmlns:a="http://schemas.openxmlformats.org/drawingml/2006/main" noGrp="1"/>
          </p:cNvSpPr>
          <p:nvPr/>
        </p:nvSpPr>
        <p:spPr>
          <a:xfrm xmlns:a="http://schemas.openxmlformats.org/drawingml/2006/main">
            <a:off x="4600575" y="1866900"/>
            <a:ext cx="55245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BB4E8B-9C77-4955-9705-CFC127EA69E5}"/>
              </a:ext>
            </a:extLst>
          </p:cNvPr>
          <p:cNvSpPr>
            <a:spLocks xmlns:a="http://schemas.openxmlformats.org/drawingml/2006/main" noGrp="1"/>
          </p:cNvSpPr>
          <p:nvPr/>
        </p:nvSpPr>
        <p:spPr>
          <a:xfrm xmlns:a="http://schemas.openxmlformats.org/drawingml/2006/main">
            <a:off x="4600575" y="19716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50AAA6AA-EF0F-4612-B9A2-1DEB68AE9107}"/>
              </a:ext>
            </a:extLst>
          </p:cNvPr>
          <p:cNvSpPr>
            <a:spLocks xmlns:a="http://schemas.openxmlformats.org/drawingml/2006/main" noGrp="1"/>
          </p:cNvSpPr>
          <p:nvPr/>
        </p:nvSpPr>
        <p:spPr>
          <a:xfrm xmlns:a="http://schemas.openxmlformats.org/drawingml/2006/main">
            <a:off x="5029200" y="197167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Fragmented information</a:t>
            </a:r>
          </a:p>
        </p:txBody>
      </p:sp>
      <p:sp>
        <p:nvSpPr>
          <p:cNvPr id="15" name="">
            <a:extLst xmlns:a="http://schemas.openxmlformats.org/drawingml/2006/main">
              <a:ext uri="{FF2B5EF4-FFF2-40B4-BE49-F238E27FC236}">
                <a16:creationId xmlns:a16="http://schemas.microsoft.com/office/drawing/2014/main" id="{764CBEA3-B3BE-4FAB-95FC-4E9A518054B0}"/>
              </a:ext>
            </a:extLst>
          </p:cNvPr>
          <p:cNvSpPr>
            <a:spLocks xmlns:a="http://schemas.openxmlformats.org/drawingml/2006/main" noGrp="1"/>
          </p:cNvSpPr>
          <p:nvPr/>
        </p:nvSpPr>
        <p:spPr>
          <a:xfrm xmlns:a="http://schemas.openxmlformats.org/drawingml/2006/main">
            <a:off x="5029200" y="21431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Current conditions, forecasts, map layers and emergency alerts often appear in separate applications.</a:t>
            </a:r>
          </a:p>
        </p:txBody>
      </p:sp>
      <p:sp>
        <p:nvSpPr>
          <p:cNvPr id="16" name="">
            <a:extLst xmlns:a="http://schemas.openxmlformats.org/drawingml/2006/main">
              <a:ext uri="{FF2B5EF4-FFF2-40B4-BE49-F238E27FC236}">
                <a16:creationId xmlns:a16="http://schemas.microsoft.com/office/drawing/2014/main" id="{C577D3D0-2C64-4C73-BD19-466AF529A3F6}"/>
              </a:ext>
            </a:extLst>
          </p:cNvPr>
          <p:cNvSpPr>
            <a:spLocks xmlns:a="http://schemas.openxmlformats.org/drawingml/2006/main" noGrp="1"/>
          </p:cNvSpPr>
          <p:nvPr/>
        </p:nvSpPr>
        <p:spPr>
          <a:xfrm xmlns:a="http://schemas.openxmlformats.org/drawingml/2006/main">
            <a:off x="4600575" y="24765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EAE6A8B3-9D75-442D-B566-A057CB37238E}"/>
              </a:ext>
            </a:extLst>
          </p:cNvPr>
          <p:cNvSpPr>
            <a:spLocks xmlns:a="http://schemas.openxmlformats.org/drawingml/2006/main" noGrp="1"/>
          </p:cNvSpPr>
          <p:nvPr/>
        </p:nvSpPr>
        <p:spPr>
          <a:xfrm xmlns:a="http://schemas.openxmlformats.org/drawingml/2006/main">
            <a:off x="5029200" y="2476500"/>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Difficult interpretation</a:t>
            </a:r>
          </a:p>
        </p:txBody>
      </p:sp>
      <p:sp>
        <p:nvSpPr>
          <p:cNvPr id="18" name="">
            <a:extLst xmlns:a="http://schemas.openxmlformats.org/drawingml/2006/main">
              <a:ext uri="{FF2B5EF4-FFF2-40B4-BE49-F238E27FC236}">
                <a16:creationId xmlns:a16="http://schemas.microsoft.com/office/drawing/2014/main" id="{876FE956-F716-420E-B8CD-FDE10E69DE48}"/>
              </a:ext>
            </a:extLst>
          </p:cNvPr>
          <p:cNvSpPr>
            <a:spLocks xmlns:a="http://schemas.openxmlformats.org/drawingml/2006/main" noGrp="1"/>
          </p:cNvSpPr>
          <p:nvPr/>
        </p:nvSpPr>
        <p:spPr>
          <a:xfrm xmlns:a="http://schemas.openxmlformats.org/drawingml/2006/main">
            <a:off x="5029200" y="264795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Technical maps, measurements and scientific terms can be difficult for ordinary users to understand.</a:t>
            </a:r>
          </a:p>
        </p:txBody>
      </p:sp>
      <p:sp>
        <p:nvSpPr>
          <p:cNvPr id="19" name="">
            <a:extLst xmlns:a="http://schemas.openxmlformats.org/drawingml/2006/main">
              <a:ext uri="{FF2B5EF4-FFF2-40B4-BE49-F238E27FC236}">
                <a16:creationId xmlns:a16="http://schemas.microsoft.com/office/drawing/2014/main" id="{F8E6FC0B-962D-4870-9B07-467C5ABD7216}"/>
              </a:ext>
            </a:extLst>
          </p:cNvPr>
          <p:cNvSpPr>
            <a:spLocks xmlns:a="http://schemas.openxmlformats.org/drawingml/2006/main" noGrp="1"/>
          </p:cNvSpPr>
          <p:nvPr/>
        </p:nvSpPr>
        <p:spPr>
          <a:xfrm xmlns:a="http://schemas.openxmlformats.org/drawingml/2006/main">
            <a:off x="4600575" y="298132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EA59986C-CEDD-49D3-AF89-0AD3CA1D3EA0}"/>
              </a:ext>
            </a:extLst>
          </p:cNvPr>
          <p:cNvSpPr>
            <a:spLocks xmlns:a="http://schemas.openxmlformats.org/drawingml/2006/main" noGrp="1"/>
          </p:cNvSpPr>
          <p:nvPr/>
        </p:nvSpPr>
        <p:spPr>
          <a:xfrm xmlns:a="http://schemas.openxmlformats.org/drawingml/2006/main">
            <a:off x="5029200" y="298132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Static interaction</a:t>
            </a:r>
          </a:p>
        </p:txBody>
      </p:sp>
      <p:sp>
        <p:nvSpPr>
          <p:cNvPr id="21" name="">
            <a:extLst xmlns:a="http://schemas.openxmlformats.org/drawingml/2006/main">
              <a:ext uri="{FF2B5EF4-FFF2-40B4-BE49-F238E27FC236}">
                <a16:creationId xmlns:a16="http://schemas.microsoft.com/office/drawing/2014/main" id="{54AC7D15-5E77-4916-8EBA-A81AA96A8E4C}"/>
              </a:ext>
            </a:extLst>
          </p:cNvPr>
          <p:cNvSpPr>
            <a:spLocks xmlns:a="http://schemas.openxmlformats.org/drawingml/2006/main" noGrp="1"/>
          </p:cNvSpPr>
          <p:nvPr/>
        </p:nvSpPr>
        <p:spPr>
          <a:xfrm xmlns:a="http://schemas.openxmlformats.org/drawingml/2006/main">
            <a:off x="5029200" y="315277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Traditional applications show fixed results and provide limited support for follow-up questions.</a:t>
            </a:r>
          </a:p>
        </p:txBody>
      </p:sp>
      <p:sp>
        <p:nvSpPr>
          <p:cNvPr id="22" name="">
            <a:extLst xmlns:a="http://schemas.openxmlformats.org/drawingml/2006/main">
              <a:ext uri="{FF2B5EF4-FFF2-40B4-BE49-F238E27FC236}">
                <a16:creationId xmlns:a16="http://schemas.microsoft.com/office/drawing/2014/main" id="{8E4909D1-1F6B-4130-B66E-57EF0CA6CF29}"/>
              </a:ext>
            </a:extLst>
          </p:cNvPr>
          <p:cNvSpPr>
            <a:spLocks xmlns:a="http://schemas.openxmlformats.org/drawingml/2006/main" noGrp="1"/>
          </p:cNvSpPr>
          <p:nvPr/>
        </p:nvSpPr>
        <p:spPr>
          <a:xfrm xmlns:a="http://schemas.openxmlformats.org/drawingml/2006/main">
            <a:off x="4600575" y="348615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6F89DD57-2CD0-4610-A544-0AD977E1E553}"/>
              </a:ext>
            </a:extLst>
          </p:cNvPr>
          <p:cNvSpPr>
            <a:spLocks xmlns:a="http://schemas.openxmlformats.org/drawingml/2006/main" noGrp="1"/>
          </p:cNvSpPr>
          <p:nvPr/>
        </p:nvSpPr>
        <p:spPr>
          <a:xfrm xmlns:a="http://schemas.openxmlformats.org/drawingml/2006/main">
            <a:off x="5029200" y="3486150"/>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Limited hands-free access</a:t>
            </a:r>
          </a:p>
        </p:txBody>
      </p:sp>
      <p:sp>
        <p:nvSpPr>
          <p:cNvPr id="24" name="">
            <a:extLst xmlns:a="http://schemas.openxmlformats.org/drawingml/2006/main">
              <a:ext uri="{FF2B5EF4-FFF2-40B4-BE49-F238E27FC236}">
                <a16:creationId xmlns:a16="http://schemas.microsoft.com/office/drawing/2014/main" id="{BD533C67-DCBA-484F-9E17-71083FC75551}"/>
              </a:ext>
            </a:extLst>
          </p:cNvPr>
          <p:cNvSpPr>
            <a:spLocks xmlns:a="http://schemas.openxmlformats.org/drawingml/2006/main" noGrp="1"/>
          </p:cNvSpPr>
          <p:nvPr/>
        </p:nvSpPr>
        <p:spPr>
          <a:xfrm xmlns:a="http://schemas.openxmlformats.org/drawingml/2006/main">
            <a:off x="5029200" y="36576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Manual navigation makes weather information less convenient while travelling, working or handling urgent situations.</a:t>
            </a:r>
          </a:p>
        </p:txBody>
      </p:sp>
      <p:sp>
        <p:nvSpPr>
          <p:cNvPr id="25" name="">
            <a:extLst xmlns:a="http://schemas.openxmlformats.org/drawingml/2006/main">
              <a:ext uri="{FF2B5EF4-FFF2-40B4-BE49-F238E27FC236}">
                <a16:creationId xmlns:a16="http://schemas.microsoft.com/office/drawing/2014/main" id="{3A3F5054-EB52-414C-9C03-1492D93598B4}"/>
              </a:ext>
            </a:extLst>
          </p:cNvPr>
          <p:cNvSpPr>
            <a:spLocks xmlns:a="http://schemas.openxmlformats.org/drawingml/2006/main" noGrp="1"/>
          </p:cNvSpPr>
          <p:nvPr/>
        </p:nvSpPr>
        <p:spPr>
          <a:xfrm xmlns:a="http://schemas.openxmlformats.org/drawingml/2006/main">
            <a:off x="4600575" y="39909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44088BBB-4140-4CDA-BDAD-888F18B91448}"/>
              </a:ext>
            </a:extLst>
          </p:cNvPr>
          <p:cNvSpPr>
            <a:spLocks xmlns:a="http://schemas.openxmlformats.org/drawingml/2006/main" noGrp="1"/>
          </p:cNvSpPr>
          <p:nvPr/>
        </p:nvSpPr>
        <p:spPr>
          <a:xfrm xmlns:a="http://schemas.openxmlformats.org/drawingml/2006/main">
            <a:off x="5029200" y="399097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Weak decision support</a:t>
            </a:r>
          </a:p>
        </p:txBody>
      </p:sp>
      <p:sp>
        <p:nvSpPr>
          <p:cNvPr id="27" name="">
            <a:extLst xmlns:a="http://schemas.openxmlformats.org/drawingml/2006/main">
              <a:ext uri="{FF2B5EF4-FFF2-40B4-BE49-F238E27FC236}">
                <a16:creationId xmlns:a16="http://schemas.microsoft.com/office/drawing/2014/main" id="{68A7B889-0753-44A1-891C-EB17F58ABE3A}"/>
              </a:ext>
            </a:extLst>
          </p:cNvPr>
          <p:cNvSpPr>
            <a:spLocks xmlns:a="http://schemas.openxmlformats.org/drawingml/2006/main" noGrp="1"/>
          </p:cNvSpPr>
          <p:nvPr/>
        </p:nvSpPr>
        <p:spPr>
          <a:xfrm xmlns:a="http://schemas.openxmlformats.org/drawingml/2006/main">
            <a:off x="5029200" y="41624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Generic forecasts do not explain how weather may affect travel, outdoor work, events or personal safety.</a:t>
            </a:r>
          </a:p>
        </p:txBody>
      </p:sp>
      <p:sp>
        <p:nvSpPr>
          <p:cNvPr id="28" name="">
            <a:extLst xmlns:a="http://schemas.openxmlformats.org/drawingml/2006/main">
              <a:ext uri="{FF2B5EF4-FFF2-40B4-BE49-F238E27FC236}">
                <a16:creationId xmlns:a16="http://schemas.microsoft.com/office/drawing/2014/main" id="{B1800F65-C582-49E7-949B-76427F35FEA3}"/>
              </a:ext>
            </a:extLst>
          </p:cNvPr>
          <p:cNvSpPr>
            <a:spLocks xmlns:a="http://schemas.openxmlformats.org/drawingml/2006/main" noGrp="1"/>
          </p:cNvSpPr>
          <p:nvPr/>
        </p:nvSpPr>
        <p:spPr>
          <a:xfrm xmlns:a="http://schemas.openxmlformats.org/drawingml/2006/main">
            <a:off x="8439150" y="15621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76A96"/>
                </a:solidFill>
                <a:latin typeface="Arial"/>
                <a:ea typeface="Arial"/>
                <a:cs typeface="Arial"/>
              </a:defRPr>
            </a:pPr>
            <a:r>
              <a:rPr sz="1350" b="1">
                <a:solidFill>
                  <a:srgbClr val="376A96"/>
                </a:solidFill>
                <a:latin typeface="Arial"/>
                <a:ea typeface="Arial"/>
                <a:cs typeface="Arial"/>
              </a:rPr>
              <a:t>STAKEHOLDERS</a:t>
            </a:r>
          </a:p>
        </p:txBody>
      </p:sp>
      <p:sp>
        <p:nvSpPr>
          <p:cNvPr id="29" name="">
            <a:extLst xmlns:a="http://schemas.openxmlformats.org/drawingml/2006/main">
              <a:ext uri="{FF2B5EF4-FFF2-40B4-BE49-F238E27FC236}">
                <a16:creationId xmlns:a16="http://schemas.microsoft.com/office/drawing/2014/main" id="{66BF50AD-8F1F-41FF-A2B7-C61B8D529580}"/>
              </a:ext>
            </a:extLst>
          </p:cNvPr>
          <p:cNvSpPr>
            <a:spLocks xmlns:a="http://schemas.openxmlformats.org/drawingml/2006/main" noGrp="1"/>
          </p:cNvSpPr>
          <p:nvPr/>
        </p:nvSpPr>
        <p:spPr>
          <a:xfrm xmlns:a="http://schemas.openxmlformats.org/drawingml/2006/main">
            <a:off x="8439150" y="1847850"/>
            <a:ext cx="704850" cy="19050"/>
          </a:xfrm>
          <a:prstGeom xmlns:a="http://schemas.openxmlformats.org/drawingml/2006/main" prst="rect">
            <a:avLst/>
          </a:prstGeom>
          <a:solidFill xmlns:a="http://schemas.openxmlformats.org/drawingml/2006/main">
            <a:srgbClr val="376A96"/>
          </a:solidFill>
          <a:ln xmlns:a="http://schemas.openxmlformats.org/drawingml/2006/main" w="0">
            <a:no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b49bd76b12e84b4c"/>
          <a:srcRect xmlns:a="http://schemas.openxmlformats.org/drawingml/2006/main" l="0" t="16153" r="0" b="16153"/>
          <a:stretch xmlns:a="http://schemas.openxmlformats.org/drawingml/2006/main">
            <a:fillRect l="0" t="0" r="0" b="0"/>
          </a:stretch>
        </p:blipFill>
        <p:spPr>
          <a:xfrm xmlns:a="http://schemas.openxmlformats.org/drawingml/2006/main">
            <a:off x="8439150" y="1943100"/>
            <a:ext cx="3095625" cy="971550"/>
          </a:xfrm>
          <a:prstGeom xmlns:a="http://schemas.openxmlformats.org/drawingml/2006/main" prst="roundRect">
            <a:avLst>
              <a:gd name="adj" fmla="val 7843"/>
            </a:avLst>
          </a:prstGeom>
        </p:spPr>
      </p:pic>
      <p:sp>
        <p:nvSpPr>
          <p:cNvPr id="31" name="">
            <a:extLst xmlns:a="http://schemas.openxmlformats.org/drawingml/2006/main">
              <a:ext uri="{FF2B5EF4-FFF2-40B4-BE49-F238E27FC236}">
                <a16:creationId xmlns:a16="http://schemas.microsoft.com/office/drawing/2014/main" id="{0E70A71D-4B36-436B-A244-4A7418975E47}"/>
              </a:ext>
            </a:extLst>
          </p:cNvPr>
          <p:cNvSpPr>
            <a:spLocks xmlns:a="http://schemas.openxmlformats.org/drawingml/2006/main" noGrp="1"/>
          </p:cNvSpPr>
          <p:nvPr/>
        </p:nvSpPr>
        <p:spPr>
          <a:xfrm xmlns:a="http://schemas.openxmlformats.org/drawingml/2006/main">
            <a:off x="8439150" y="2962275"/>
            <a:ext cx="3095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1">
                <a:solidFill>
                  <a:srgbClr val="666A70"/>
                </a:solidFill>
                <a:latin typeface="Arial"/>
                <a:ea typeface="Arial"/>
                <a:cs typeface="Arial"/>
              </a:defRPr>
            </a:pPr>
            <a:r>
              <a:rPr sz="690" b="1">
                <a:solidFill>
                  <a:srgbClr val="666A70"/>
                </a:solidFill>
                <a:latin typeface="Arial"/>
                <a:ea typeface="Arial"/>
                <a:cs typeface="Arial"/>
              </a:rPr>
              <a:t>Weather agencies, emergency services and technical teams</a:t>
            </a:r>
          </a:p>
        </p:txBody>
      </p:sp>
      <p:sp>
        <p:nvSpPr>
          <p:cNvPr id="32" name="">
            <a:extLst xmlns:a="http://schemas.openxmlformats.org/drawingml/2006/main">
              <a:ext uri="{FF2B5EF4-FFF2-40B4-BE49-F238E27FC236}">
                <a16:creationId xmlns:a16="http://schemas.microsoft.com/office/drawing/2014/main" id="{59718C5D-AD9E-49AE-A902-D78041C24F1C}"/>
              </a:ext>
            </a:extLst>
          </p:cNvPr>
          <p:cNvSpPr>
            <a:spLocks xmlns:a="http://schemas.openxmlformats.org/drawingml/2006/main" noGrp="1"/>
          </p:cNvSpPr>
          <p:nvPr/>
        </p:nvSpPr>
        <p:spPr>
          <a:xfrm xmlns:a="http://schemas.openxmlformats.org/drawingml/2006/main">
            <a:off x="8439150" y="3181350"/>
            <a:ext cx="3095625"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CAFE5ED-1072-430C-BBCF-5CFBA1B7CED0}"/>
              </a:ext>
            </a:extLst>
          </p:cNvPr>
          <p:cNvSpPr>
            <a:spLocks xmlns:a="http://schemas.openxmlformats.org/drawingml/2006/main" noGrp="1"/>
          </p:cNvSpPr>
          <p:nvPr/>
        </p:nvSpPr>
        <p:spPr>
          <a:xfrm xmlns:a="http://schemas.openxmlformats.org/drawingml/2006/main">
            <a:off x="8439150" y="32766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58B88"/>
                </a:solidFill>
                <a:latin typeface="Arial"/>
                <a:ea typeface="Arial"/>
                <a:cs typeface="Arial"/>
              </a:defRPr>
            </a:pPr>
            <a:r>
              <a:rPr sz="1350" b="1">
                <a:solidFill>
                  <a:srgbClr val="258B88"/>
                </a:solidFill>
                <a:latin typeface="Arial"/>
                <a:ea typeface="Arial"/>
                <a:cs typeface="Arial"/>
              </a:rPr>
              <a:t>TARGET USERS</a:t>
            </a:r>
          </a:p>
        </p:txBody>
      </p:sp>
      <p:sp>
        <p:nvSpPr>
          <p:cNvPr id="34" name="">
            <a:extLst xmlns:a="http://schemas.openxmlformats.org/drawingml/2006/main">
              <a:ext uri="{FF2B5EF4-FFF2-40B4-BE49-F238E27FC236}">
                <a16:creationId xmlns:a16="http://schemas.microsoft.com/office/drawing/2014/main" id="{01DE21A4-E00E-4C32-8900-DEEC36122D49}"/>
              </a:ext>
            </a:extLst>
          </p:cNvPr>
          <p:cNvSpPr>
            <a:spLocks xmlns:a="http://schemas.openxmlformats.org/drawingml/2006/main" noGrp="1"/>
          </p:cNvSpPr>
          <p:nvPr/>
        </p:nvSpPr>
        <p:spPr>
          <a:xfrm xmlns:a="http://schemas.openxmlformats.org/drawingml/2006/main">
            <a:off x="8439150" y="3562350"/>
            <a:ext cx="6096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e95eb8c2bdc24307"/>
          <a:srcRect xmlns:a="http://schemas.openxmlformats.org/drawingml/2006/main" l="0" t="26000" r="0" b="26000"/>
          <a:stretch xmlns:a="http://schemas.openxmlformats.org/drawingml/2006/main">
            <a:fillRect l="0" t="0" r="0" b="0"/>
          </a:stretch>
        </p:blipFill>
        <p:spPr>
          <a:xfrm xmlns:a="http://schemas.openxmlformats.org/drawingml/2006/main">
            <a:off x="8439150" y="3657600"/>
            <a:ext cx="3095625" cy="742950"/>
          </a:xfrm>
          <a:prstGeom xmlns:a="http://schemas.openxmlformats.org/drawingml/2006/main" prst="roundRect">
            <a:avLst>
              <a:gd name="adj" fmla="val 10256"/>
            </a:avLst>
          </a:prstGeom>
        </p:spPr>
      </p:pic>
      <p:sp>
        <p:nvSpPr>
          <p:cNvPr id="36" name="">
            <a:extLst xmlns:a="http://schemas.openxmlformats.org/drawingml/2006/main">
              <a:ext uri="{FF2B5EF4-FFF2-40B4-BE49-F238E27FC236}">
                <a16:creationId xmlns:a16="http://schemas.microsoft.com/office/drawing/2014/main" id="{E25C34B4-F886-4C5C-B774-B574A07DA6D6}"/>
              </a:ext>
            </a:extLst>
          </p:cNvPr>
          <p:cNvSpPr>
            <a:spLocks xmlns:a="http://schemas.openxmlformats.org/drawingml/2006/main" noGrp="1"/>
          </p:cNvSpPr>
          <p:nvPr/>
        </p:nvSpPr>
        <p:spPr>
          <a:xfrm xmlns:a="http://schemas.openxmlformats.org/drawingml/2006/main">
            <a:off x="8439150" y="4438650"/>
            <a:ext cx="3095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1">
                <a:solidFill>
                  <a:srgbClr val="666A70"/>
                </a:solidFill>
                <a:latin typeface="Arial"/>
                <a:ea typeface="Arial"/>
                <a:cs typeface="Arial"/>
              </a:defRPr>
            </a:pPr>
            <a:r>
              <a:rPr sz="690" b="1">
                <a:solidFill>
                  <a:srgbClr val="666A70"/>
                </a:solidFill>
                <a:latin typeface="Arial"/>
                <a:ea typeface="Arial"/>
                <a:cs typeface="Arial"/>
              </a:rPr>
              <a:t>Farmers, coastal communities, commuters and older adults</a:t>
            </a:r>
          </a:p>
        </p:txBody>
      </p:sp>
      <p:sp>
        <p:nvSpPr>
          <p:cNvPr id="37" name="">
            <a:extLst xmlns:a="http://schemas.openxmlformats.org/drawingml/2006/main">
              <a:ext uri="{FF2B5EF4-FFF2-40B4-BE49-F238E27FC236}">
                <a16:creationId xmlns:a16="http://schemas.microsoft.com/office/drawing/2014/main" id="{86F273A3-F11E-415A-9D56-886439534BC4}"/>
              </a:ext>
            </a:extLst>
          </p:cNvPr>
          <p:cNvSpPr>
            <a:spLocks xmlns:a="http://schemas.openxmlformats.org/drawingml/2006/main" noGrp="1"/>
          </p:cNvSpPr>
          <p:nvPr/>
        </p:nvSpPr>
        <p:spPr>
          <a:xfrm xmlns:a="http://schemas.openxmlformats.org/drawingml/2006/main">
            <a:off x="590550" y="46863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350BBD4-95AE-4B44-874B-161387D8BA7A}"/>
              </a:ext>
            </a:extLst>
          </p:cNvPr>
          <p:cNvSpPr>
            <a:spLocks xmlns:a="http://schemas.openxmlformats.org/drawingml/2006/main" noGrp="1"/>
          </p:cNvSpPr>
          <p:nvPr/>
        </p:nvSpPr>
        <p:spPr>
          <a:xfrm xmlns:a="http://schemas.openxmlformats.org/drawingml/2006/main">
            <a:off x="590550" y="4791075"/>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92D32"/>
                </a:solidFill>
                <a:latin typeface="Arial"/>
                <a:ea typeface="Arial"/>
                <a:cs typeface="Arial"/>
              </a:defRPr>
            </a:pPr>
            <a:r>
              <a:rPr sz="1425" b="1">
                <a:solidFill>
                  <a:srgbClr val="292D32"/>
                </a:solidFill>
                <a:latin typeface="Arial"/>
                <a:ea typeface="Arial"/>
                <a:cs typeface="Arial"/>
              </a:rPr>
              <a:t>KEY CHALLENGES</a:t>
            </a:r>
          </a:p>
        </p:txBody>
      </p:sp>
      <p:sp>
        <p:nvSpPr>
          <p:cNvPr id="39" name="">
            <a:extLst xmlns:a="http://schemas.openxmlformats.org/drawingml/2006/main">
              <a:ext uri="{FF2B5EF4-FFF2-40B4-BE49-F238E27FC236}">
                <a16:creationId xmlns:a16="http://schemas.microsoft.com/office/drawing/2014/main" id="{C3091B29-3AF6-4A67-B616-59346B862919}"/>
              </a:ext>
            </a:extLst>
          </p:cNvPr>
          <p:cNvSpPr>
            <a:spLocks xmlns:a="http://schemas.openxmlformats.org/drawingml/2006/main" noGrp="1"/>
          </p:cNvSpPr>
          <p:nvPr/>
        </p:nvSpPr>
        <p:spPr>
          <a:xfrm xmlns:a="http://schemas.openxmlformats.org/drawingml/2006/main">
            <a:off x="590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01</a:t>
            </a:r>
          </a:p>
        </p:txBody>
      </p:sp>
      <p:sp>
        <p:nvSpPr>
          <p:cNvPr id="40" name="">
            <a:extLst xmlns:a="http://schemas.openxmlformats.org/drawingml/2006/main">
              <a:ext uri="{FF2B5EF4-FFF2-40B4-BE49-F238E27FC236}">
                <a16:creationId xmlns:a16="http://schemas.microsoft.com/office/drawing/2014/main" id="{2C59733F-A303-4D41-99BB-195158963F4D}"/>
              </a:ext>
            </a:extLst>
          </p:cNvPr>
          <p:cNvSpPr>
            <a:spLocks xmlns:a="http://schemas.openxmlformats.org/drawingml/2006/main" noGrp="1"/>
          </p:cNvSpPr>
          <p:nvPr/>
        </p:nvSpPr>
        <p:spPr>
          <a:xfrm xmlns:a="http://schemas.openxmlformats.org/drawingml/2006/main">
            <a:off x="590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CABA8B7-7F85-4D8F-83AB-8B1F115270FB}"/>
              </a:ext>
            </a:extLst>
          </p:cNvPr>
          <p:cNvSpPr>
            <a:spLocks xmlns:a="http://schemas.openxmlformats.org/drawingml/2006/main" noGrp="1"/>
          </p:cNvSpPr>
          <p:nvPr/>
        </p:nvSpPr>
        <p:spPr>
          <a:xfrm xmlns:a="http://schemas.openxmlformats.org/drawingml/2006/main">
            <a:off x="590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RELIABLE DATA</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INTEGRATION</a:t>
            </a:r>
          </a:p>
        </p:txBody>
      </p:sp>
      <p:sp>
        <p:nvSpPr>
          <p:cNvPr id="42" name="">
            <a:extLst xmlns:a="http://schemas.openxmlformats.org/drawingml/2006/main">
              <a:ext uri="{FF2B5EF4-FFF2-40B4-BE49-F238E27FC236}">
                <a16:creationId xmlns:a16="http://schemas.microsoft.com/office/drawing/2014/main" id="{806CB13F-14BE-49E5-84DB-A06B1EED0472}"/>
              </a:ext>
            </a:extLst>
          </p:cNvPr>
          <p:cNvSpPr>
            <a:spLocks xmlns:a="http://schemas.openxmlformats.org/drawingml/2006/main" noGrp="1"/>
          </p:cNvSpPr>
          <p:nvPr/>
        </p:nvSpPr>
        <p:spPr>
          <a:xfrm xmlns:a="http://schemas.openxmlformats.org/drawingml/2006/main">
            <a:off x="590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Weather APIs, geospatial services and official alert feeds may use different formats, update intervals and levels of accuracy.</a:t>
            </a:r>
          </a:p>
        </p:txBody>
      </p:sp>
      <p:sp>
        <p:nvSpPr>
          <p:cNvPr id="43" name="">
            <a:extLst xmlns:a="http://schemas.openxmlformats.org/drawingml/2006/main">
              <a:ext uri="{FF2B5EF4-FFF2-40B4-BE49-F238E27FC236}">
                <a16:creationId xmlns:a16="http://schemas.microsoft.com/office/drawing/2014/main" id="{66120F94-7005-4641-9FBB-AF6910BAB146}"/>
              </a:ext>
            </a:extLst>
          </p:cNvPr>
          <p:cNvSpPr>
            <a:spLocks xmlns:a="http://schemas.openxmlformats.org/drawingml/2006/main" noGrp="1"/>
          </p:cNvSpPr>
          <p:nvPr/>
        </p:nvSpPr>
        <p:spPr>
          <a:xfrm xmlns:a="http://schemas.openxmlformats.org/drawingml/2006/main">
            <a:off x="2752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51751B8-3D09-43F7-91FA-1BC339E3E279}"/>
              </a:ext>
            </a:extLst>
          </p:cNvPr>
          <p:cNvSpPr>
            <a:spLocks xmlns:a="http://schemas.openxmlformats.org/drawingml/2006/main" noGrp="1"/>
          </p:cNvSpPr>
          <p:nvPr/>
        </p:nvSpPr>
        <p:spPr>
          <a:xfrm xmlns:a="http://schemas.openxmlformats.org/drawingml/2006/main">
            <a:off x="2876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45" name="">
            <a:extLst xmlns:a="http://schemas.openxmlformats.org/drawingml/2006/main">
              <a:ext uri="{FF2B5EF4-FFF2-40B4-BE49-F238E27FC236}">
                <a16:creationId xmlns:a16="http://schemas.microsoft.com/office/drawing/2014/main" id="{F94AF918-DA5D-4808-A2CA-393BE3BD30C3}"/>
              </a:ext>
            </a:extLst>
          </p:cNvPr>
          <p:cNvSpPr>
            <a:spLocks xmlns:a="http://schemas.openxmlformats.org/drawingml/2006/main" noGrp="1"/>
          </p:cNvSpPr>
          <p:nvPr/>
        </p:nvSpPr>
        <p:spPr>
          <a:xfrm xmlns:a="http://schemas.openxmlformats.org/drawingml/2006/main">
            <a:off x="2876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8E5444D-0AB4-4412-BA83-EFFAA7293C83}"/>
              </a:ext>
            </a:extLst>
          </p:cNvPr>
          <p:cNvSpPr>
            <a:spLocks xmlns:a="http://schemas.openxmlformats.org/drawingml/2006/main" noGrp="1"/>
          </p:cNvSpPr>
          <p:nvPr/>
        </p:nvSpPr>
        <p:spPr>
          <a:xfrm xmlns:a="http://schemas.openxmlformats.org/drawingml/2006/main">
            <a:off x="2876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AGENT DECISION</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RELIABILITY</a:t>
            </a:r>
          </a:p>
        </p:txBody>
      </p:sp>
      <p:sp>
        <p:nvSpPr>
          <p:cNvPr id="47" name="">
            <a:extLst xmlns:a="http://schemas.openxmlformats.org/drawingml/2006/main">
              <a:ext uri="{FF2B5EF4-FFF2-40B4-BE49-F238E27FC236}">
                <a16:creationId xmlns:a16="http://schemas.microsoft.com/office/drawing/2014/main" id="{88F553E3-4E41-4FE6-B0DA-479CB885DF07}"/>
              </a:ext>
            </a:extLst>
          </p:cNvPr>
          <p:cNvSpPr>
            <a:spLocks xmlns:a="http://schemas.openxmlformats.org/drawingml/2006/main" noGrp="1"/>
          </p:cNvSpPr>
          <p:nvPr/>
        </p:nvSpPr>
        <p:spPr>
          <a:xfrm xmlns:a="http://schemas.openxmlformats.org/drawingml/2006/main">
            <a:off x="2876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The agent must select the correct tools, interpret results accurately and avoid generating unsupported weather information.</a:t>
            </a:r>
          </a:p>
        </p:txBody>
      </p:sp>
      <p:sp>
        <p:nvSpPr>
          <p:cNvPr id="48" name="">
            <a:extLst xmlns:a="http://schemas.openxmlformats.org/drawingml/2006/main">
              <a:ext uri="{FF2B5EF4-FFF2-40B4-BE49-F238E27FC236}">
                <a16:creationId xmlns:a16="http://schemas.microsoft.com/office/drawing/2014/main" id="{47025A70-9DE3-4B8B-B369-229A228F1734}"/>
              </a:ext>
            </a:extLst>
          </p:cNvPr>
          <p:cNvSpPr>
            <a:spLocks xmlns:a="http://schemas.openxmlformats.org/drawingml/2006/main" noGrp="1"/>
          </p:cNvSpPr>
          <p:nvPr/>
        </p:nvSpPr>
        <p:spPr>
          <a:xfrm xmlns:a="http://schemas.openxmlformats.org/drawingml/2006/main">
            <a:off x="5038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04F82F7-5BF7-470D-88ED-315FAF740C1D}"/>
              </a:ext>
            </a:extLst>
          </p:cNvPr>
          <p:cNvSpPr>
            <a:spLocks xmlns:a="http://schemas.openxmlformats.org/drawingml/2006/main" noGrp="1"/>
          </p:cNvSpPr>
          <p:nvPr/>
        </p:nvSpPr>
        <p:spPr>
          <a:xfrm xmlns:a="http://schemas.openxmlformats.org/drawingml/2006/main">
            <a:off x="5162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C95C57"/>
                </a:solidFill>
                <a:latin typeface="Arial"/>
                <a:ea typeface="Arial"/>
                <a:cs typeface="Arial"/>
              </a:defRPr>
            </a:pPr>
            <a:r>
              <a:rPr sz="1050" b="1">
                <a:solidFill>
                  <a:srgbClr val="C95C57"/>
                </a:solidFill>
                <a:latin typeface="Arial"/>
                <a:ea typeface="Arial"/>
                <a:cs typeface="Arial"/>
              </a:rPr>
              <a:t>03</a:t>
            </a:r>
          </a:p>
        </p:txBody>
      </p:sp>
      <p:sp>
        <p:nvSpPr>
          <p:cNvPr id="50" name="">
            <a:extLst xmlns:a="http://schemas.openxmlformats.org/drawingml/2006/main">
              <a:ext uri="{FF2B5EF4-FFF2-40B4-BE49-F238E27FC236}">
                <a16:creationId xmlns:a16="http://schemas.microsoft.com/office/drawing/2014/main" id="{49BF4C71-49CC-4369-BF13-022BDAD08567}"/>
              </a:ext>
            </a:extLst>
          </p:cNvPr>
          <p:cNvSpPr>
            <a:spLocks xmlns:a="http://schemas.openxmlformats.org/drawingml/2006/main" noGrp="1"/>
          </p:cNvSpPr>
          <p:nvPr/>
        </p:nvSpPr>
        <p:spPr>
          <a:xfrm xmlns:a="http://schemas.openxmlformats.org/drawingml/2006/main">
            <a:off x="5162550" y="5381625"/>
            <a:ext cx="381000" cy="19050"/>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A39BC050-C3FD-4469-B7E7-98A25559C561}"/>
              </a:ext>
            </a:extLst>
          </p:cNvPr>
          <p:cNvSpPr>
            <a:spLocks xmlns:a="http://schemas.openxmlformats.org/drawingml/2006/main" noGrp="1"/>
          </p:cNvSpPr>
          <p:nvPr/>
        </p:nvSpPr>
        <p:spPr>
          <a:xfrm xmlns:a="http://schemas.openxmlformats.org/drawingml/2006/main">
            <a:off x="5162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LOCATION AND TIME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AMBIGUITY</a:t>
            </a:r>
          </a:p>
        </p:txBody>
      </p:sp>
      <p:sp>
        <p:nvSpPr>
          <p:cNvPr id="52" name="">
            <a:extLst xmlns:a="http://schemas.openxmlformats.org/drawingml/2006/main">
              <a:ext uri="{FF2B5EF4-FFF2-40B4-BE49-F238E27FC236}">
                <a16:creationId xmlns:a16="http://schemas.microsoft.com/office/drawing/2014/main" id="{C711D1B3-89C5-421D-8E83-4D7C9ACBD32E}"/>
              </a:ext>
            </a:extLst>
          </p:cNvPr>
          <p:cNvSpPr>
            <a:spLocks xmlns:a="http://schemas.openxmlformats.org/drawingml/2006/main" noGrp="1"/>
          </p:cNvSpPr>
          <p:nvPr/>
        </p:nvSpPr>
        <p:spPr>
          <a:xfrm xmlns:a="http://schemas.openxmlformats.org/drawingml/2006/main">
            <a:off x="5162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Incomplete place names and phrases such as “tomorrow evening” must be resolved before retrieving data.</a:t>
            </a:r>
          </a:p>
        </p:txBody>
      </p:sp>
      <p:sp>
        <p:nvSpPr>
          <p:cNvPr id="53" name="">
            <a:extLst xmlns:a="http://schemas.openxmlformats.org/drawingml/2006/main">
              <a:ext uri="{FF2B5EF4-FFF2-40B4-BE49-F238E27FC236}">
                <a16:creationId xmlns:a16="http://schemas.microsoft.com/office/drawing/2014/main" id="{CD3B3976-DFD0-42F0-BDCC-A3B92FDCA0FB}"/>
              </a:ext>
            </a:extLst>
          </p:cNvPr>
          <p:cNvSpPr>
            <a:spLocks xmlns:a="http://schemas.openxmlformats.org/drawingml/2006/main" noGrp="1"/>
          </p:cNvSpPr>
          <p:nvPr/>
        </p:nvSpPr>
        <p:spPr>
          <a:xfrm xmlns:a="http://schemas.openxmlformats.org/drawingml/2006/main">
            <a:off x="7324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3D9D42C-AE44-4DF0-9A13-BC55973536D6}"/>
              </a:ext>
            </a:extLst>
          </p:cNvPr>
          <p:cNvSpPr>
            <a:spLocks xmlns:a="http://schemas.openxmlformats.org/drawingml/2006/main" noGrp="1"/>
          </p:cNvSpPr>
          <p:nvPr/>
        </p:nvSpPr>
        <p:spPr>
          <a:xfrm xmlns:a="http://schemas.openxmlformats.org/drawingml/2006/main">
            <a:off x="7448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04</a:t>
            </a:r>
          </a:p>
        </p:txBody>
      </p:sp>
      <p:sp>
        <p:nvSpPr>
          <p:cNvPr id="55" name="">
            <a:extLst xmlns:a="http://schemas.openxmlformats.org/drawingml/2006/main">
              <a:ext uri="{FF2B5EF4-FFF2-40B4-BE49-F238E27FC236}">
                <a16:creationId xmlns:a16="http://schemas.microsoft.com/office/drawing/2014/main" id="{E1EA8267-6D10-4C8B-A111-F442FD894D70}"/>
              </a:ext>
            </a:extLst>
          </p:cNvPr>
          <p:cNvSpPr>
            <a:spLocks xmlns:a="http://schemas.openxmlformats.org/drawingml/2006/main" noGrp="1"/>
          </p:cNvSpPr>
          <p:nvPr/>
        </p:nvSpPr>
        <p:spPr>
          <a:xfrm xmlns:a="http://schemas.openxmlformats.org/drawingml/2006/main">
            <a:off x="7448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C8D41F7-45DA-40B7-84FE-94E46D4B4B9B}"/>
              </a:ext>
            </a:extLst>
          </p:cNvPr>
          <p:cNvSpPr>
            <a:spLocks xmlns:a="http://schemas.openxmlformats.org/drawingml/2006/main" noGrp="1"/>
          </p:cNvSpPr>
          <p:nvPr/>
        </p:nvSpPr>
        <p:spPr>
          <a:xfrm xmlns:a="http://schemas.openxmlformats.org/drawingml/2006/main">
            <a:off x="7448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VERIFIED HAZARD</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INFORMATION</a:t>
            </a:r>
          </a:p>
        </p:txBody>
      </p:sp>
      <p:sp>
        <p:nvSpPr>
          <p:cNvPr id="57" name="">
            <a:extLst xmlns:a="http://schemas.openxmlformats.org/drawingml/2006/main">
              <a:ext uri="{FF2B5EF4-FFF2-40B4-BE49-F238E27FC236}">
                <a16:creationId xmlns:a16="http://schemas.microsoft.com/office/drawing/2014/main" id="{221D3F55-3A14-4A08-AA5D-636EFFEC1E7A}"/>
              </a:ext>
            </a:extLst>
          </p:cNvPr>
          <p:cNvSpPr>
            <a:spLocks xmlns:a="http://schemas.openxmlformats.org/drawingml/2006/main" noGrp="1"/>
          </p:cNvSpPr>
          <p:nvPr/>
        </p:nvSpPr>
        <p:spPr>
          <a:xfrm xmlns:a="http://schemas.openxmlformats.org/drawingml/2006/main">
            <a:off x="7448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Heatwave assessments must follow defined thresholds, while tsunami warnings must come from authorised sources.</a:t>
            </a:r>
          </a:p>
        </p:txBody>
      </p:sp>
      <p:sp>
        <p:nvSpPr>
          <p:cNvPr id="58" name="">
            <a:extLst xmlns:a="http://schemas.openxmlformats.org/drawingml/2006/main">
              <a:ext uri="{FF2B5EF4-FFF2-40B4-BE49-F238E27FC236}">
                <a16:creationId xmlns:a16="http://schemas.microsoft.com/office/drawing/2014/main" id="{D4F2FB3A-132E-47AE-9143-3035A1238107}"/>
              </a:ext>
            </a:extLst>
          </p:cNvPr>
          <p:cNvSpPr>
            <a:spLocks xmlns:a="http://schemas.openxmlformats.org/drawingml/2006/main" noGrp="1"/>
          </p:cNvSpPr>
          <p:nvPr/>
        </p:nvSpPr>
        <p:spPr>
          <a:xfrm xmlns:a="http://schemas.openxmlformats.org/drawingml/2006/main">
            <a:off x="9610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D5BBC86A-DA3C-457F-A667-7C75D4FCEF9C}"/>
              </a:ext>
            </a:extLst>
          </p:cNvPr>
          <p:cNvSpPr>
            <a:spLocks xmlns:a="http://schemas.openxmlformats.org/drawingml/2006/main" noGrp="1"/>
          </p:cNvSpPr>
          <p:nvPr/>
        </p:nvSpPr>
        <p:spPr>
          <a:xfrm xmlns:a="http://schemas.openxmlformats.org/drawingml/2006/main">
            <a:off x="9734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60" name="">
            <a:extLst xmlns:a="http://schemas.openxmlformats.org/drawingml/2006/main">
              <a:ext uri="{FF2B5EF4-FFF2-40B4-BE49-F238E27FC236}">
                <a16:creationId xmlns:a16="http://schemas.microsoft.com/office/drawing/2014/main" id="{3F57795E-86ED-4AEC-9E43-560741107BAA}"/>
              </a:ext>
            </a:extLst>
          </p:cNvPr>
          <p:cNvSpPr>
            <a:spLocks xmlns:a="http://schemas.openxmlformats.org/drawingml/2006/main" noGrp="1"/>
          </p:cNvSpPr>
          <p:nvPr/>
        </p:nvSpPr>
        <p:spPr>
          <a:xfrm xmlns:a="http://schemas.openxmlformats.org/drawingml/2006/main">
            <a:off x="9734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E92A00D-DE0A-4DF6-B22E-2DA2FA1A60BE}"/>
              </a:ext>
            </a:extLst>
          </p:cNvPr>
          <p:cNvSpPr>
            <a:spLocks xmlns:a="http://schemas.openxmlformats.org/drawingml/2006/main" noGrp="1"/>
          </p:cNvSpPr>
          <p:nvPr/>
        </p:nvSpPr>
        <p:spPr>
          <a:xfrm xmlns:a="http://schemas.openxmlformats.org/drawingml/2006/main">
            <a:off x="9734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VOICE AND RESPONSE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QUALITY</a:t>
            </a:r>
          </a:p>
        </p:txBody>
      </p:sp>
      <p:sp>
        <p:nvSpPr>
          <p:cNvPr id="62" name="">
            <a:extLst xmlns:a="http://schemas.openxmlformats.org/drawingml/2006/main">
              <a:ext uri="{FF2B5EF4-FFF2-40B4-BE49-F238E27FC236}">
                <a16:creationId xmlns:a16="http://schemas.microsoft.com/office/drawing/2014/main" id="{CBE1F4F0-6DC1-495D-B08C-6BEC997F56D3}"/>
              </a:ext>
            </a:extLst>
          </p:cNvPr>
          <p:cNvSpPr>
            <a:spLocks xmlns:a="http://schemas.openxmlformats.org/drawingml/2006/main" noGrp="1"/>
          </p:cNvSpPr>
          <p:nvPr/>
        </p:nvSpPr>
        <p:spPr>
          <a:xfrm xmlns:a="http://schemas.openxmlformats.org/drawingml/2006/main">
            <a:off x="9734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Speech recognition and spoken responses must remain understandable across accents, background noise and unstable connectivity.</a:t>
            </a:r>
          </a:p>
        </p:txBody>
      </p:sp>
    </p:spTree>
    <p:extLst>
      <p:ext uri="{BB962C8B-B14F-4D97-AF65-F5344CB8AC3E}">
        <p14:creationId xmlns:p14="http://schemas.microsoft.com/office/powerpoint/2010/main" val="463625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2026-10-02T04:03:57.1750000Z</dcterms:created>
  <dcterms:modified xsi:type="dcterms:W3CDTF">2026-10-02T04:03:57.1750000Z</dcterms:modified>
</coreProperties>
</file>